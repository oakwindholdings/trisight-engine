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notesMasterIdLst>
    <p:notesMasterId r:id="rId11"/>
  </p:notesMasterIdLst>
  <p:sldSz cx="9144000" cy="6858000"/>
  <p:notesSz cx="68580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notesMaster" Target="notesMasters/notesMaster1.xml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heme" Target="theme/theme1.xml"/><Relationship Id="rId15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_SLIDE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1828800"/>
            <a:ext cx="8229600" cy="182880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ctr" indent="0" marL="0">
              <a:buNone/>
              <a:defRPr lang="en-US" sz="44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defRPr>
            </a:lvl1pPr>
          </a:lstStyle>
          <a:p>
            <a:pPr algn="ctr" indent="0" marL="0">
              <a:buNone/>
            </a:pPr>
            <a:r>
              <a:rPr lang="en-US" sz="44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Title Placeholder</a:t>
            </a:r>
            <a:endParaRPr lang="en-US" sz="4400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_SLIDE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3" name="Text 1"/>
          <p:cNvSpPr/>
          <p:nvPr>
            <p:ph idx="101" type="title" hasCustomPrompt="1"/>
          </p:nvPr>
        </p:nvSpPr>
        <p:spPr>
          <a:xfrm>
            <a:off x="457200" y="91440"/>
            <a:ext cx="8229600" cy="45720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defRPr>
            </a:lvl1pPr>
          </a:lstStyle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Slide Title</a:t>
            </a:r>
            <a:endParaRPr lang="en-US" sz="2400" dirty="0"/>
          </a:p>
        </p:txBody>
      </p:sp>
      <p:sp>
        <p:nvSpPr>
          <p:cNvPr id="4" name="Text 1"/>
          <p:cNvSpPr/>
          <p:nvPr/>
        </p:nvSpPr>
        <p:spPr>
          <a:xfrm>
            <a:off x="457200" y="640080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TriSight Analytics</a:t>
            </a:r>
            <a:endParaRPr lang="en-US" sz="1000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371600"/>
            <a:ext cx="8229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NVIDIA Corporation</a:t>
            </a:r>
            <a:endParaRPr lang="en-US" sz="4800" dirty="0"/>
          </a:p>
        </p:txBody>
      </p:sp>
      <p:sp>
        <p:nvSpPr>
          <p:cNvPr id="3" name="Text 1"/>
          <p:cNvSpPr/>
          <p:nvPr/>
        </p:nvSpPr>
        <p:spPr>
          <a:xfrm>
            <a:off x="457200" y="246888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Investment Analysis Report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457200" y="320040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NVDA | July 31, 2025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3200400" y="4114800"/>
            <a:ext cx="2743200" cy="731520"/>
          </a:xfrm>
          <a:prstGeom prst="rect">
            <a:avLst/>
          </a:prstGeom>
          <a:solidFill>
            <a:srgbClr val="EF4444"/>
          </a:solidFill>
          <a:ln w="25400">
            <a:solidFill>
              <a:srgbClr val="EF4444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200400" y="4114800"/>
            <a:ext cx="27432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SELL</a:t>
            </a:r>
            <a:endParaRPr lang="en-US" sz="2400" dirty="0"/>
          </a:p>
        </p:txBody>
      </p:sp>
      <p:sp>
        <p:nvSpPr>
          <p:cNvPr id="7" name="Text 5"/>
          <p:cNvSpPr/>
          <p:nvPr/>
        </p:nvSpPr>
        <p:spPr>
          <a:xfrm>
            <a:off x="457200" y="502920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Overall Score: 23/100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457200" y="621792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Generated by TriSight Analytics</a:t>
            </a:r>
            <a:endParaRPr lang="en-US" sz="1200" dirty="0"/>
          </a:p>
        </p:txBody>
      </p:sp>
      <p:sp>
        <p:nvSpPr>
          <p:cNvPr id="9" name="Text 0"/>
          <p:cNvSpPr/>
          <p:nvPr>
            <p:ph idx="100" type="title" hasCustomPrompt="1"/>
          </p:nvPr>
        </p:nvSpPr>
        <p:spPr>
          <a:xfrm>
            <a:off x="457200" y="1828800"/>
            <a:ext cx="8229600" cy="1828800"/>
          </a:xfrm>
          <a:prstGeom prst="rect">
            <a:avLst/>
          </a:prstGeom>
          <a:noFill/>
          <a:ln/>
        </p:spPr>
        <p:txBody>
          <a:bodyPr wrap="square" rtlCol="0"/>
          <a:lstStyle/>
          <a:p>
            <a:pPr algn="ctr" indent="0" marL="0">
              <a:buNone/>
            </a:pPr>
            <a:endParaRPr lang="en-US" sz="4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9144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Executive Summary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457200" y="914400"/>
            <a:ext cx="4114800" cy="1188720"/>
          </a:xfrm>
          <a:prstGeom prst="rect">
            <a:avLst/>
          </a:prstGeom>
          <a:solidFill>
            <a:srgbClr val="F8FAFC"/>
          </a:solidFill>
          <a:ln w="25400">
            <a:solidFill>
              <a:srgbClr val="22C55E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40080" y="1005840"/>
            <a:ext cx="3749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Growth Score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640080" y="1371600"/>
            <a:ext cx="37490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22C5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80</a:t>
            </a:r>
            <a:endParaRPr lang="en-US" sz="3600" dirty="0"/>
          </a:p>
        </p:txBody>
      </p:sp>
      <p:sp>
        <p:nvSpPr>
          <p:cNvPr id="6" name="Shape 4"/>
          <p:cNvSpPr/>
          <p:nvPr/>
        </p:nvSpPr>
        <p:spPr>
          <a:xfrm>
            <a:off x="4800600" y="914400"/>
            <a:ext cx="4114800" cy="1188720"/>
          </a:xfrm>
          <a:prstGeom prst="rect">
            <a:avLst/>
          </a:prstGeom>
          <a:solidFill>
            <a:srgbClr val="F8FAFC"/>
          </a:solidFill>
          <a:ln w="25400">
            <a:solidFill>
              <a:srgbClr val="EF4444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983480" y="1005840"/>
            <a:ext cx="3749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Value Score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4983480" y="1371600"/>
            <a:ext cx="37490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EF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</a:t>
            </a:r>
            <a:endParaRPr lang="en-US" sz="3600" dirty="0"/>
          </a:p>
        </p:txBody>
      </p:sp>
      <p:sp>
        <p:nvSpPr>
          <p:cNvPr id="9" name="Shape 7"/>
          <p:cNvSpPr/>
          <p:nvPr/>
        </p:nvSpPr>
        <p:spPr>
          <a:xfrm>
            <a:off x="457200" y="2286000"/>
            <a:ext cx="4114800" cy="1188720"/>
          </a:xfrm>
          <a:prstGeom prst="rect">
            <a:avLst/>
          </a:prstGeom>
          <a:solidFill>
            <a:srgbClr val="F8FAFC"/>
          </a:solidFill>
          <a:ln w="25400">
            <a:solidFill>
              <a:srgbClr val="F59E0B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40080" y="2377440"/>
            <a:ext cx="3749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Quality Score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640080" y="2743200"/>
            <a:ext cx="37490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59E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41</a:t>
            </a:r>
            <a:endParaRPr lang="en-US" sz="3600" dirty="0"/>
          </a:p>
        </p:txBody>
      </p:sp>
      <p:sp>
        <p:nvSpPr>
          <p:cNvPr id="12" name="Shape 10"/>
          <p:cNvSpPr/>
          <p:nvPr/>
        </p:nvSpPr>
        <p:spPr>
          <a:xfrm>
            <a:off x="4800600" y="2286000"/>
            <a:ext cx="4114800" cy="1188720"/>
          </a:xfrm>
          <a:prstGeom prst="rect">
            <a:avLst/>
          </a:prstGeom>
          <a:solidFill>
            <a:srgbClr val="F8FAFC"/>
          </a:solidFill>
          <a:ln w="25400">
            <a:solidFill>
              <a:srgbClr val="10B981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983480" y="2377440"/>
            <a:ext cx="3749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Momentum Score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4983480" y="2743200"/>
            <a:ext cx="37490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10B9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70</a:t>
            </a:r>
            <a:endParaRPr lang="en-US" sz="3600" dirty="0"/>
          </a:p>
        </p:txBody>
      </p:sp>
      <p:sp>
        <p:nvSpPr>
          <p:cNvPr id="15" name="Text 13"/>
          <p:cNvSpPr/>
          <p:nvPr/>
        </p:nvSpPr>
        <p:spPr>
          <a:xfrm>
            <a:off x="457200" y="3840480"/>
            <a:ext cx="8229600" cy="2286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>
              <a:lnSpc>
                <a:spcPts val="2400"/>
              </a:lnSpc>
            </a:pPr>
            <a:r>
              <a:rPr lang="en-US" sz="16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Revenue growth of 114.2% YoY with accelerating trend</a:t>
            </a:r>
            <a:pPr indent="0" marL="0">
              <a:lnSpc>
                <a:spcPts val="2400"/>
              </a:lnSpc>
              <a:buNone/>
            </a:pPr>
            <a:r>
              <a:rPr lang="en-US" sz="16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Valuation appears overvalued with -1230.9% margin of safety</a:t>
            </a:r>
            <a:pPr indent="0" marL="0">
              <a:lnSpc>
                <a:spcPts val="2400"/>
              </a:lnSpc>
              <a:buNone/>
            </a:pPr>
            <a:r>
              <a:rPr lang="en-US" sz="16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None competitive moat with ROIC of 0.0%</a:t>
            </a:r>
            <a:pPr indent="0" marL="0">
              <a:lnSpc>
                <a:spcPts val="2400"/>
              </a:lnSpc>
              <a:buNone/>
            </a:pPr>
            <a:r>
              <a:rPr lang="en-US" sz="16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Risk profile: High (Beta: 3.70, Volatility: 55.5%)</a:t>
            </a:r>
            <a:endParaRPr lang="en-US" sz="1600" dirty="0"/>
          </a:p>
        </p:txBody>
      </p:sp>
      <p:sp>
        <p:nvSpPr>
          <p:cNvPr id="16" name="Text 1"/>
          <p:cNvSpPr/>
          <p:nvPr>
            <p:ph idx="101" type="title" hasCustomPrompt="1"/>
          </p:nvPr>
        </p:nvSpPr>
        <p:spPr>
          <a:xfrm>
            <a:off x="457200" y="91440"/>
            <a:ext cx="8229600" cy="457200"/>
          </a:xfrm>
          <a:prstGeom prst="rect">
            <a:avLst/>
          </a:prstGeom>
          <a:noFill/>
          <a:ln/>
        </p:spPr>
        <p:txBody>
          <a:bodyPr wrap="square" rtlCol="0"/>
          <a:lstStyle/>
          <a:p>
            <a:pPr indent="0" marL="0">
              <a:buNone/>
            </a:pPr>
            <a:endParaRPr lang="en-US" sz="24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9144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Agenda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914400" y="1097280"/>
            <a:ext cx="457200" cy="457200"/>
          </a:xfrm>
          <a:prstGeom prst="ellipse">
            <a:avLst/>
          </a:prstGeom>
          <a:solidFill>
            <a:srgbClr val="10B981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914400" y="109728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1645920" y="1097280"/>
            <a:ext cx="6400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Executive Summary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914400" y="1737360"/>
            <a:ext cx="457200" cy="457200"/>
          </a:xfrm>
          <a:prstGeom prst="ellipse">
            <a:avLst/>
          </a:prstGeom>
          <a:solidFill>
            <a:srgbClr val="10B981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14400" y="173736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1645920" y="1737360"/>
            <a:ext cx="6400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Company Overview</a:t>
            </a:r>
            <a:endParaRPr lang="en-US" sz="1800" dirty="0"/>
          </a:p>
        </p:txBody>
      </p:sp>
      <p:sp>
        <p:nvSpPr>
          <p:cNvPr id="9" name="Shape 7"/>
          <p:cNvSpPr/>
          <p:nvPr/>
        </p:nvSpPr>
        <p:spPr>
          <a:xfrm>
            <a:off x="914400" y="2377440"/>
            <a:ext cx="457200" cy="457200"/>
          </a:xfrm>
          <a:prstGeom prst="ellipse">
            <a:avLst/>
          </a:prstGeom>
          <a:solidFill>
            <a:srgbClr val="10B981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914400" y="237744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1645920" y="2377440"/>
            <a:ext cx="6400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Financial Analysis</a:t>
            </a:r>
            <a:endParaRPr lang="en-US" sz="1800" dirty="0"/>
          </a:p>
        </p:txBody>
      </p:sp>
      <p:sp>
        <p:nvSpPr>
          <p:cNvPr id="12" name="Shape 10"/>
          <p:cNvSpPr/>
          <p:nvPr/>
        </p:nvSpPr>
        <p:spPr>
          <a:xfrm>
            <a:off x="914400" y="3017520"/>
            <a:ext cx="457200" cy="457200"/>
          </a:xfrm>
          <a:prstGeom prst="ellipse">
            <a:avLst/>
          </a:prstGeom>
          <a:solidFill>
            <a:srgbClr val="10B981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914400" y="301752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1645920" y="3017520"/>
            <a:ext cx="6400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Valuation Metrics</a:t>
            </a:r>
            <a:endParaRPr lang="en-US" sz="1800" dirty="0"/>
          </a:p>
        </p:txBody>
      </p:sp>
      <p:sp>
        <p:nvSpPr>
          <p:cNvPr id="15" name="Shape 13"/>
          <p:cNvSpPr/>
          <p:nvPr/>
        </p:nvSpPr>
        <p:spPr>
          <a:xfrm>
            <a:off x="914400" y="3657600"/>
            <a:ext cx="457200" cy="457200"/>
          </a:xfrm>
          <a:prstGeom prst="ellipse">
            <a:avLst/>
          </a:prstGeom>
          <a:solidFill>
            <a:srgbClr val="10B981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914400" y="365760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1645920" y="3657600"/>
            <a:ext cx="6400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Technical Analysis</a:t>
            </a:r>
            <a:endParaRPr lang="en-US" sz="1800" dirty="0"/>
          </a:p>
        </p:txBody>
      </p:sp>
      <p:sp>
        <p:nvSpPr>
          <p:cNvPr id="18" name="Shape 16"/>
          <p:cNvSpPr/>
          <p:nvPr/>
        </p:nvSpPr>
        <p:spPr>
          <a:xfrm>
            <a:off x="914400" y="4297680"/>
            <a:ext cx="457200" cy="457200"/>
          </a:xfrm>
          <a:prstGeom prst="ellipse">
            <a:avLst/>
          </a:prstGeom>
          <a:solidFill>
            <a:srgbClr val="10B981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914400" y="429768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1645920" y="4297680"/>
            <a:ext cx="6400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Risk Assessment</a:t>
            </a:r>
            <a:endParaRPr lang="en-US" sz="1800" dirty="0"/>
          </a:p>
        </p:txBody>
      </p:sp>
      <p:sp>
        <p:nvSpPr>
          <p:cNvPr id="21" name="Shape 19"/>
          <p:cNvSpPr/>
          <p:nvPr/>
        </p:nvSpPr>
        <p:spPr>
          <a:xfrm>
            <a:off x="914400" y="4937760"/>
            <a:ext cx="457200" cy="457200"/>
          </a:xfrm>
          <a:prstGeom prst="ellipse">
            <a:avLst/>
          </a:prstGeom>
          <a:solidFill>
            <a:srgbClr val="10B981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914400" y="493776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1645920" y="4937760"/>
            <a:ext cx="6400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Investment Thesis</a:t>
            </a:r>
            <a:endParaRPr lang="en-US" sz="1800" dirty="0"/>
          </a:p>
        </p:txBody>
      </p:sp>
      <p:sp>
        <p:nvSpPr>
          <p:cNvPr id="24" name="Shape 22"/>
          <p:cNvSpPr/>
          <p:nvPr/>
        </p:nvSpPr>
        <p:spPr>
          <a:xfrm>
            <a:off x="914400" y="5577840"/>
            <a:ext cx="457200" cy="457200"/>
          </a:xfrm>
          <a:prstGeom prst="ellipse">
            <a:avLst/>
          </a:prstGeom>
          <a:solidFill>
            <a:srgbClr val="10B981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914400" y="557784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</a:t>
            </a:r>
            <a:endParaRPr lang="en-US" sz="1600" dirty="0"/>
          </a:p>
        </p:txBody>
      </p:sp>
      <p:sp>
        <p:nvSpPr>
          <p:cNvPr id="26" name="Text 24"/>
          <p:cNvSpPr/>
          <p:nvPr/>
        </p:nvSpPr>
        <p:spPr>
          <a:xfrm>
            <a:off x="1645920" y="5577840"/>
            <a:ext cx="6400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Recommendations</a:t>
            </a:r>
            <a:endParaRPr lang="en-US" sz="1800" dirty="0"/>
          </a:p>
        </p:txBody>
      </p:sp>
      <p:sp>
        <p:nvSpPr>
          <p:cNvPr id="27" name="Text 1"/>
          <p:cNvSpPr/>
          <p:nvPr>
            <p:ph idx="101" type="title" hasCustomPrompt="1"/>
          </p:nvPr>
        </p:nvSpPr>
        <p:spPr>
          <a:xfrm>
            <a:off x="457200" y="91440"/>
            <a:ext cx="8229600" cy="457200"/>
          </a:xfrm>
          <a:prstGeom prst="rect">
            <a:avLst/>
          </a:prstGeom>
          <a:noFill/>
          <a:ln/>
        </p:spPr>
        <p:txBody>
          <a:bodyPr wrap="square" rtlCol="0"/>
          <a:lstStyle/>
          <a:p>
            <a:pPr indent="0" marL="0">
              <a:buNone/>
            </a:pPr>
            <a:endParaRPr lang="en-US" sz="24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9144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Momentum Indicators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457200" y="91440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Momentum Analysis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914400" y="1737360"/>
            <a:ext cx="7315200" cy="3657600"/>
          </a:xfrm>
          <a:prstGeom prst="rect">
            <a:avLst/>
          </a:prstGeom>
          <a:solidFill>
            <a:srgbClr val="F8FAFC"/>
          </a:solidFill>
          <a:ln w="12700">
            <a:solidFill>
              <a:srgbClr val="64748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914400" y="338328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i="1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[Chart CHART]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914400" y="5852160"/>
            <a:ext cx="7315200" cy="3657600"/>
          </a:xfrm>
          <a:prstGeom prst="rect">
            <a:avLst/>
          </a:prstGeom>
          <a:solidFill>
            <a:srgbClr val="F8FAFC"/>
          </a:solidFill>
          <a:ln w="12700">
            <a:solidFill>
              <a:srgbClr val="64748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14400" y="749808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i="1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[Chart CHART]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457200" y="9966960"/>
            <a:ext cx="82296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>
              <a:lnSpc>
                <a:spcPts val="2200"/>
              </a:lnSpc>
            </a:pPr>
            <a:endParaRPr lang="en-US" sz="1600" dirty="0"/>
          </a:p>
        </p:txBody>
      </p:sp>
      <p:sp>
        <p:nvSpPr>
          <p:cNvPr id="9" name="Text 1"/>
          <p:cNvSpPr/>
          <p:nvPr>
            <p:ph idx="101" type="title" hasCustomPrompt="1"/>
          </p:nvPr>
        </p:nvSpPr>
        <p:spPr>
          <a:xfrm>
            <a:off x="457200" y="91440"/>
            <a:ext cx="8229600" cy="457200"/>
          </a:xfrm>
          <a:prstGeom prst="rect">
            <a:avLst/>
          </a:prstGeom>
          <a:noFill/>
          <a:ln/>
        </p:spPr>
        <p:txBody>
          <a:bodyPr wrap="square" rtlCol="0"/>
          <a:lstStyle/>
          <a:p>
            <a:pPr indent="0" marL="0">
              <a:buNone/>
            </a:pPr>
            <a:endParaRPr lang="en-US" sz="24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9144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Pattern Detection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457200" y="91440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Chart Patterns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914400" y="1737360"/>
            <a:ext cx="7315200" cy="3657600"/>
          </a:xfrm>
          <a:prstGeom prst="rect">
            <a:avLst/>
          </a:prstGeom>
          <a:solidFill>
            <a:srgbClr val="F8FAFC"/>
          </a:solidFill>
          <a:ln w="12700">
            <a:solidFill>
              <a:srgbClr val="64748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914400" y="338328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i="1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[Chart CHART]</a:t>
            </a:r>
            <a:endParaRPr lang="en-US" sz="1400" dirty="0"/>
          </a:p>
        </p:txBody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5852160"/>
          <a:ext cx="8229600" cy="914400"/>
        </p:xfrm>
        <a:graphic>
          <a:graphicData uri="http://schemas.openxmlformats.org/drawingml/2006/table">
            <a:tbl>
              <a:tblPr/>
              <a:tblGrid/>
              <a:tr h="0"/>
            </a:tbl>
          </a:graphicData>
        </a:graphic>
      </p:graphicFrame>
      <p:sp>
        <p:nvSpPr>
          <p:cNvPr id="7" name="Text 1"/>
          <p:cNvSpPr/>
          <p:nvPr>
            <p:ph idx="101" type="title" hasCustomPrompt="1"/>
          </p:nvPr>
        </p:nvSpPr>
        <p:spPr>
          <a:xfrm>
            <a:off x="457200" y="91440"/>
            <a:ext cx="8229600" cy="457200"/>
          </a:xfrm>
          <a:prstGeom prst="rect">
            <a:avLst/>
          </a:prstGeom>
          <a:noFill/>
          <a:ln/>
        </p:spPr>
        <p:txBody>
          <a:bodyPr wrap="square" rtlCol="0"/>
          <a:lstStyle/>
          <a:p>
            <a:pPr indent="0" marL="0">
              <a:buNone/>
            </a:pPr>
            <a:endParaRPr lang="en-US" sz="24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9144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Support &amp; Resistance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457200" y="91440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Key Levels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914400" y="1737360"/>
            <a:ext cx="7315200" cy="3657600"/>
          </a:xfrm>
          <a:prstGeom prst="rect">
            <a:avLst/>
          </a:prstGeom>
          <a:solidFill>
            <a:srgbClr val="F8FAFC"/>
          </a:solidFill>
          <a:ln w="12700">
            <a:solidFill>
              <a:srgbClr val="64748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914400" y="338328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i="1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[Chart CHART]</a:t>
            </a:r>
            <a:endParaRPr lang="en-US" sz="1400" dirty="0"/>
          </a:p>
        </p:txBody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5852160"/>
          <a:ext cx="8229600" cy="914400"/>
        </p:xfrm>
        <a:graphic>
          <a:graphicData uri="http://schemas.openxmlformats.org/drawingml/2006/table">
            <a:tbl>
              <a:tblPr/>
              <a:tblGrid/>
              <a:tr h="0"/>
            </a:tbl>
          </a:graphicData>
        </a:graphic>
      </p:graphicFrame>
      <p:sp>
        <p:nvSpPr>
          <p:cNvPr id="7" name="Text 1"/>
          <p:cNvSpPr/>
          <p:nvPr>
            <p:ph idx="101" type="title" hasCustomPrompt="1"/>
          </p:nvPr>
        </p:nvSpPr>
        <p:spPr>
          <a:xfrm>
            <a:off x="457200" y="91440"/>
            <a:ext cx="8229600" cy="457200"/>
          </a:xfrm>
          <a:prstGeom prst="rect">
            <a:avLst/>
          </a:prstGeom>
          <a:noFill/>
          <a:ln/>
        </p:spPr>
        <p:txBody>
          <a:bodyPr wrap="square" rtlCol="0"/>
          <a:lstStyle/>
          <a:p>
            <a:pPr indent="0" marL="0">
              <a:buNone/>
            </a:pPr>
            <a:endParaRPr lang="en-US" sz="24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9144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Trading Signals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457200" y="91440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Trading Signals Summary</a:t>
            </a:r>
            <a:endParaRPr lang="en-US" sz="2000" dirty="0"/>
          </a:p>
        </p:txBody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737360"/>
          <a:ext cx="8229600" cy="914400"/>
        </p:xfrm>
        <a:graphic>
          <a:graphicData uri="http://schemas.openxmlformats.org/drawingml/2006/table">
            <a:tbl>
              <a:tblPr/>
              <a:tblGrid/>
              <a:tr h="0"/>
            </a:tbl>
          </a:graphicData>
        </a:graphic>
      </p:graphicFrame>
      <p:sp>
        <p:nvSpPr>
          <p:cNvPr id="5" name="Text 1"/>
          <p:cNvSpPr/>
          <p:nvPr>
            <p:ph idx="101" type="title" hasCustomPrompt="1"/>
          </p:nvPr>
        </p:nvSpPr>
        <p:spPr>
          <a:xfrm>
            <a:off x="457200" y="91440"/>
            <a:ext cx="8229600" cy="457200"/>
          </a:xfrm>
          <a:prstGeom prst="rect">
            <a:avLst/>
          </a:prstGeom>
          <a:noFill/>
          <a:ln/>
        </p:spPr>
        <p:txBody>
          <a:bodyPr wrap="square" rtlCol="0"/>
          <a:lstStyle/>
          <a:p>
            <a:pPr indent="0" marL="0">
              <a:buNone/>
            </a:pPr>
            <a:endParaRPr lang="en-US" sz="24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9144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Investment Conclusion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457200" y="914400"/>
            <a:ext cx="8229600" cy="1097280"/>
          </a:xfrm>
          <a:prstGeom prst="rect">
            <a:avLst/>
          </a:prstGeom>
          <a:solidFill>
            <a:srgbClr val="EF4444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109728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Recommendation: SELL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457200" y="228600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Key Takeaways: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457200" y="2926080"/>
            <a:ext cx="8229600" cy="2743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>
              <a:lnSpc>
                <a:spcPts val="2600"/>
              </a:lnSpc>
            </a:pPr>
            <a:r>
              <a:rPr lang="en-US" sz="18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Overall investment score: 23/100</a:t>
            </a:r>
            <a:pPr indent="0" marL="0">
              <a:lnSpc>
                <a:spcPts val="2600"/>
              </a:lnSpc>
              <a:buNone/>
            </a:pPr>
            <a:r>
              <a:rPr lang="en-US" sz="18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Confidence level: 80%</a:t>
            </a:r>
            <a:pPr indent="0" marL="0">
              <a:lnSpc>
                <a:spcPts val="2600"/>
              </a:lnSpc>
              <a:buNone/>
            </a:pPr>
            <a:r>
              <a:rPr lang="en-US" sz="18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Primary strength: Growth (80/100)</a:t>
            </a:r>
            <a:pPr indent="0" marL="0">
              <a:lnSpc>
                <a:spcPts val="2600"/>
              </a:lnSpc>
              <a:buNone/>
            </a:pPr>
            <a:r>
              <a:rPr lang="en-US" sz="18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Primary concern: High risk profile</a:t>
            </a:r>
            <a:pPr indent="0" marL="0">
              <a:lnSpc>
                <a:spcPts val="2600"/>
              </a:lnSpc>
              <a:buNone/>
            </a:pPr>
            <a:r>
              <a:rPr lang="en-US" sz="18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Time horizon: Medium-term (1-2 years)</a:t>
            </a:r>
            <a:endParaRPr lang="en-US" sz="1800" dirty="0"/>
          </a:p>
        </p:txBody>
      </p:sp>
      <p:sp>
        <p:nvSpPr>
          <p:cNvPr id="7" name="Text 1"/>
          <p:cNvSpPr/>
          <p:nvPr>
            <p:ph idx="101" type="title" hasCustomPrompt="1"/>
          </p:nvPr>
        </p:nvSpPr>
        <p:spPr>
          <a:xfrm>
            <a:off x="457200" y="91440"/>
            <a:ext cx="8229600" cy="457200"/>
          </a:xfrm>
          <a:prstGeom prst="rect">
            <a:avLst/>
          </a:prstGeom>
          <a:noFill/>
          <a:ln/>
        </p:spPr>
        <p:txBody>
          <a:bodyPr wrap="square" rtlCol="0"/>
          <a:lstStyle/>
          <a:p>
            <a:pPr indent="0" marL="0">
              <a:buNone/>
            </a:pPr>
            <a:endParaRPr lang="en-US" sz="24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9144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Important Disclaimers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457200" y="1097280"/>
            <a:ext cx="8229600" cy="4572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>
              <a:lnSpc>
                <a:spcPts val="2400"/>
              </a:lnSpc>
            </a:pPr>
            <a:r>
              <a:rPr lang="en-US" sz="14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This presentation is for informational purposes only and does not constitute investment advice</a:t>
            </a:r>
            <a:pPr indent="0" marL="0">
              <a:lnSpc>
                <a:spcPts val="2400"/>
              </a:lnSpc>
              <a:buNone/>
            </a:pPr>
            <a:r>
              <a:rPr lang="en-US" sz="14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Past performance is not indicative of future results</a:t>
            </a:r>
            <a:pPr indent="0" marL="0">
              <a:lnSpc>
                <a:spcPts val="2400"/>
              </a:lnSpc>
              <a:buNone/>
            </a:pPr>
            <a:r>
              <a:rPr lang="en-US" sz="14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All investments carry risk, including the potential loss of principal</a:t>
            </a:r>
            <a:pPr indent="0" marL="0">
              <a:lnSpc>
                <a:spcPts val="2400"/>
              </a:lnSpc>
              <a:buNone/>
            </a:pPr>
            <a:r>
              <a:rPr lang="en-US" sz="14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analysis is based on publicly available information and may not be complete</a:t>
            </a:r>
            <a:pPr indent="0" marL="0">
              <a:lnSpc>
                <a:spcPts val="2400"/>
              </a:lnSpc>
              <a:buNone/>
            </a:pPr>
            <a:r>
              <a:rPr lang="en-US" sz="14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Investors should conduct their own due diligence before making investment decisions</a:t>
            </a:r>
            <a:pPr indent="0" marL="0">
              <a:lnSpc>
                <a:spcPts val="2400"/>
              </a:lnSpc>
              <a:buNone/>
            </a:pPr>
            <a:r>
              <a:rPr lang="en-US" sz="14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Forward-looking statements are subject to risks and uncertainties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457200" y="621792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Generated on 7/31/2025, 9:49:41 PM by TriSight Analytics v2.0</a:t>
            </a:r>
            <a:endParaRPr lang="en-US" sz="1000" dirty="0"/>
          </a:p>
        </p:txBody>
      </p:sp>
      <p:sp>
        <p:nvSpPr>
          <p:cNvPr id="5" name="Text 1"/>
          <p:cNvSpPr/>
          <p:nvPr>
            <p:ph idx="101" type="title" hasCustomPrompt="1"/>
          </p:nvPr>
        </p:nvSpPr>
        <p:spPr>
          <a:xfrm>
            <a:off x="457200" y="91440"/>
            <a:ext cx="8229600" cy="457200"/>
          </a:xfrm>
          <a:prstGeom prst="rect">
            <a:avLst/>
          </a:prstGeom>
          <a:noFill/>
          <a:ln/>
        </p:spPr>
        <p:txBody>
          <a:bodyPr wrap="square" rtlCol="0"/>
          <a:lstStyle/>
          <a:p>
            <a:pPr indent="0" marL="0">
              <a:buNone/>
            </a:pPr>
            <a:endParaRPr lang="en-US" sz="2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</vt:vector>
  </TitlesOfParts>
  <Company>TriSight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Equity Research Presentation</dc:title>
  <dc:subject>Investment Analysis Report</dc:subject>
  <dc:creator>TriSight Analytics</dc:creator>
  <cp:lastModifiedBy>TriSight Analytics</cp:lastModifiedBy>
  <cp:revision>1</cp:revision>
  <dcterms:created xsi:type="dcterms:W3CDTF">2025-08-01T01:49:41Z</dcterms:created>
  <dcterms:modified xsi:type="dcterms:W3CDTF">2025-08-01T01:49:41Z</dcterms:modified>
</cp:coreProperties>
</file>